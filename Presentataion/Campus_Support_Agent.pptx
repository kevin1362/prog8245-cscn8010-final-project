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9" d="100"/>
          <a:sy n="89" d="100"/>
        </p:scale>
        <p:origin x="-403" y="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odern_educational_technology_hero_ill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82880"/>
            <a:ext cx="7040880" cy="64008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502920"/>
            <a:ext cx="443484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868680"/>
            <a:ext cx="1691640" cy="384048"/>
          </a:xfrm>
          <a:prstGeom prst="roundRect">
            <a:avLst/>
          </a:prstGeom>
          <a:solidFill>
            <a:srgbClr val="17A8AA"/>
          </a:solidFill>
          <a:ln>
            <a:solidFill>
              <a:srgbClr val="17A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PROJECT MOCKUP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3840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2265E"/>
                </a:solidFill>
                <a:latin typeface="Aptos"/>
              </a:rPr>
              <a:t>Campus Support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31720"/>
            <a:ext cx="1554480" cy="27432"/>
          </a:xfrm>
          <a:prstGeom prst="rect">
            <a:avLst/>
          </a:prstGeom>
          <a:solidFill>
            <a:srgbClr val="17A8AA"/>
          </a:solidFill>
          <a:ln>
            <a:solidFill>
              <a:srgbClr val="17A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2054" y="2560320"/>
            <a:ext cx="4403834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 dirty="0">
                <a:solidFill>
                  <a:srgbClr val="28303D"/>
                </a:solidFill>
                <a:latin typeface="Aptos"/>
              </a:rPr>
              <a:t>An AI-powered campus help system with </a:t>
            </a:r>
            <a:endParaRPr lang="en-US" sz="1800" b="0" i="0" dirty="0" smtClean="0">
              <a:solidFill>
                <a:srgbClr val="28303D"/>
              </a:solidFill>
              <a:latin typeface="Aptos"/>
            </a:endParaRPr>
          </a:p>
          <a:p>
            <a:pPr algn="l"/>
            <a:r>
              <a:rPr sz="1800" b="0" i="0" dirty="0" smtClean="0">
                <a:solidFill>
                  <a:srgbClr val="28303D"/>
                </a:solidFill>
                <a:latin typeface="Aptos"/>
              </a:rPr>
              <a:t>voice </a:t>
            </a:r>
            <a:r>
              <a:rPr sz="1800" b="0" i="0" dirty="0">
                <a:solidFill>
                  <a:srgbClr val="28303D"/>
                </a:solidFill>
                <a:latin typeface="Aptos"/>
              </a:rPr>
              <a:t>input, </a:t>
            </a:r>
            <a:r>
              <a:rPr sz="1800" b="0" i="0" dirty="0" smtClean="0">
                <a:solidFill>
                  <a:srgbClr val="28303D"/>
                </a:solidFill>
                <a:latin typeface="Aptos"/>
              </a:rPr>
              <a:t>multilingual </a:t>
            </a:r>
            <a:r>
              <a:rPr sz="1800" b="0" i="0" dirty="0">
                <a:solidFill>
                  <a:srgbClr val="28303D"/>
                </a:solidFill>
                <a:latin typeface="Aptos"/>
              </a:rPr>
              <a:t>support, and </a:t>
            </a:r>
            <a:endParaRPr lang="en-US" sz="1800" b="0" i="0" dirty="0" smtClean="0">
              <a:solidFill>
                <a:srgbClr val="28303D"/>
              </a:solidFill>
              <a:latin typeface="Aptos"/>
            </a:endParaRPr>
          </a:p>
          <a:p>
            <a:pPr algn="l"/>
            <a:r>
              <a:rPr sz="1800" b="0" i="0" dirty="0" smtClean="0">
                <a:solidFill>
                  <a:srgbClr val="28303D"/>
                </a:solidFill>
                <a:latin typeface="Aptos"/>
              </a:rPr>
              <a:t>spoken </a:t>
            </a:r>
            <a:r>
              <a:rPr sz="1800" b="0" i="0" dirty="0">
                <a:solidFill>
                  <a:srgbClr val="28303D"/>
                </a:solidFill>
                <a:latin typeface="Aptos"/>
              </a:rPr>
              <a:t>answers.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97280" cy="384048"/>
          </a:xfrm>
          <a:prstGeom prst="roundRect">
            <a:avLst/>
          </a:prstGeom>
          <a:solidFill>
            <a:srgbClr val="2365DB"/>
          </a:solidFill>
          <a:ln>
            <a:solidFill>
              <a:srgbClr val="236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Audio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3840480"/>
            <a:ext cx="1554480" cy="384048"/>
          </a:xfrm>
          <a:prstGeom prst="roundRect">
            <a:avLst/>
          </a:prstGeom>
          <a:solidFill>
            <a:srgbClr val="6C4ECB"/>
          </a:solidFill>
          <a:ln>
            <a:solidFill>
              <a:srgbClr val="6C4E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Multilingual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43400"/>
            <a:ext cx="1325880" cy="384048"/>
          </a:xfrm>
          <a:prstGeom prst="roundRect">
            <a:avLst/>
          </a:prstGeom>
          <a:solidFill>
            <a:srgbClr val="269068"/>
          </a:solidFill>
          <a:ln>
            <a:solidFill>
              <a:srgbClr val="269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AI Retrieval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48840" y="4343400"/>
            <a:ext cx="1417320" cy="384048"/>
          </a:xfrm>
          <a:prstGeom prst="roundRect">
            <a:avLst/>
          </a:prstGeom>
          <a:solidFill>
            <a:srgbClr val="17A8AA"/>
          </a:solidFill>
          <a:ln>
            <a:solidFill>
              <a:srgbClr val="17A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Spoken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4615" y="50749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626E84"/>
                </a:solidFill>
                <a:latin typeface="Aptos"/>
              </a:rPr>
              <a:t>Gradio UI • CampusSupportAgent • GloVe / Word2Vec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626E84"/>
                </a:solidFill>
                <a:latin typeface="Aptos"/>
              </a:rPr>
              <a:t>Presentation deck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2265E"/>
          </a:solidFill>
          <a:ln>
            <a:solidFill>
              <a:srgbClr val="122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12265E"/>
                </a:solidFill>
                <a:latin typeface="Aptos"/>
              </a:rP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96112"/>
            <a:ext cx="1417320" cy="27432"/>
          </a:xfrm>
          <a:prstGeom prst="rect">
            <a:avLst/>
          </a:prstGeom>
          <a:solidFill>
            <a:srgbClr val="17A8AA"/>
          </a:solidFill>
          <a:ln>
            <a:solidFill>
              <a:srgbClr val="17A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36576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2365DB"/>
                </a:solidFill>
                <a:latin typeface="Aptos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410" y="1901952"/>
            <a:ext cx="3796232" cy="8771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 dirty="0">
                <a:solidFill>
                  <a:srgbClr val="28303D"/>
                </a:solidFill>
                <a:latin typeface="Aptos"/>
              </a:rPr>
              <a:t>Students often spend time searching </a:t>
            </a:r>
            <a:endParaRPr lang="en-US" sz="1700" b="0" i="0" dirty="0" smtClean="0">
              <a:solidFill>
                <a:srgbClr val="28303D"/>
              </a:solidFill>
              <a:latin typeface="Aptos"/>
            </a:endParaRPr>
          </a:p>
          <a:p>
            <a:pPr algn="l"/>
            <a:r>
              <a:rPr sz="1700" b="0" i="0" dirty="0" smtClean="0">
                <a:solidFill>
                  <a:srgbClr val="28303D"/>
                </a:solidFill>
                <a:latin typeface="Aptos"/>
              </a:rPr>
              <a:t>multiple </a:t>
            </a:r>
            <a:r>
              <a:rPr sz="1700" b="0" i="0" dirty="0">
                <a:solidFill>
                  <a:srgbClr val="28303D"/>
                </a:solidFill>
                <a:latin typeface="Aptos"/>
              </a:rPr>
              <a:t>pages or asking staff for </a:t>
            </a:r>
            <a:endParaRPr lang="en-US" sz="1700" b="0" i="0" dirty="0" smtClean="0">
              <a:solidFill>
                <a:srgbClr val="28303D"/>
              </a:solidFill>
              <a:latin typeface="Aptos"/>
            </a:endParaRPr>
          </a:p>
          <a:p>
            <a:pPr algn="l"/>
            <a:r>
              <a:rPr sz="1700" b="0" i="0" dirty="0" smtClean="0">
                <a:solidFill>
                  <a:srgbClr val="28303D"/>
                </a:solidFill>
                <a:latin typeface="Aptos"/>
              </a:rPr>
              <a:t>simple </a:t>
            </a:r>
            <a:r>
              <a:rPr sz="1700" b="0" i="0" dirty="0">
                <a:solidFill>
                  <a:srgbClr val="28303D"/>
                </a:solidFill>
                <a:latin typeface="Aptos"/>
              </a:rPr>
              <a:t>campus information.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17A8AA"/>
                </a:solidFill>
                <a:latin typeface="Aptos"/>
              </a:rP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0" y="3136392"/>
            <a:ext cx="3599832" cy="8771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 dirty="0">
                <a:solidFill>
                  <a:srgbClr val="28303D"/>
                </a:solidFill>
                <a:latin typeface="Aptos"/>
              </a:rPr>
              <a:t>A smart assistant that understands </a:t>
            </a:r>
            <a:endParaRPr lang="en-US" sz="1700" b="0" i="0" dirty="0" smtClean="0">
              <a:solidFill>
                <a:srgbClr val="28303D"/>
              </a:solidFill>
              <a:latin typeface="Aptos"/>
            </a:endParaRPr>
          </a:p>
          <a:p>
            <a:pPr algn="l"/>
            <a:r>
              <a:rPr sz="1700" b="0" i="0" dirty="0" smtClean="0">
                <a:solidFill>
                  <a:srgbClr val="28303D"/>
                </a:solidFill>
                <a:latin typeface="Aptos"/>
              </a:rPr>
              <a:t>natural </a:t>
            </a:r>
            <a:r>
              <a:rPr sz="1700" b="0" i="0" dirty="0">
                <a:solidFill>
                  <a:srgbClr val="28303D"/>
                </a:solidFill>
                <a:latin typeface="Aptos"/>
              </a:rPr>
              <a:t>questions and returns </a:t>
            </a:r>
            <a:r>
              <a:rPr sz="1700" b="0" i="0" dirty="0" smtClean="0">
                <a:solidFill>
                  <a:srgbClr val="28303D"/>
                </a:solidFill>
                <a:latin typeface="Aptos"/>
              </a:rPr>
              <a:t>the</a:t>
            </a:r>
            <a:endParaRPr lang="en-US" sz="1700" b="0" i="0" dirty="0" smtClean="0">
              <a:solidFill>
                <a:srgbClr val="28303D"/>
              </a:solidFill>
              <a:latin typeface="Aptos"/>
            </a:endParaRPr>
          </a:p>
          <a:p>
            <a:pPr algn="l"/>
            <a:r>
              <a:rPr sz="1700" b="0" i="0" dirty="0" smtClean="0">
                <a:solidFill>
                  <a:srgbClr val="28303D"/>
                </a:solidFill>
                <a:latin typeface="Aptos"/>
              </a:rPr>
              <a:t>best </a:t>
            </a:r>
            <a:r>
              <a:rPr sz="1700" b="0" i="0" dirty="0">
                <a:solidFill>
                  <a:srgbClr val="28303D"/>
                </a:solidFill>
                <a:latin typeface="Aptos"/>
              </a:rPr>
              <a:t>answer in text or voice.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6C4ECB"/>
                </a:solidFill>
                <a:latin typeface="Aptos"/>
              </a:rPr>
              <a:t>Core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434840"/>
            <a:ext cx="288036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8303D"/>
                </a:solidFill>
                <a:latin typeface="Aptos"/>
              </a:defRPr>
            </a:pPr>
            <a:r>
              <a:t>Faster access to campus information</a:t>
            </a:r>
          </a:p>
          <a:p>
            <a:pPr>
              <a:spcAft>
                <a:spcPts val="600"/>
              </a:spcAft>
              <a:defRPr sz="1600">
                <a:solidFill>
                  <a:srgbClr val="28303D"/>
                </a:solidFill>
                <a:latin typeface="Aptos"/>
              </a:defRPr>
            </a:pPr>
            <a:r>
              <a:t>More accessible for different languages and input styles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2344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12265E"/>
                </a:solidFill>
                <a:latin typeface="Aptos"/>
              </a:rPr>
              <a:t>Key Features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645920"/>
            <a:ext cx="708660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709160" y="1801368"/>
            <a:ext cx="457200" cy="457200"/>
          </a:xfrm>
          <a:prstGeom prst="ellipse">
            <a:avLst/>
          </a:prstGeom>
          <a:solidFill>
            <a:srgbClr val="269068"/>
          </a:solidFill>
          <a:ln>
            <a:solidFill>
              <a:srgbClr val="269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9452" y="1810512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Aptos"/>
              </a:rPr>
              <a:t>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755648"/>
            <a:ext cx="2240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269068"/>
                </a:solidFill>
                <a:latin typeface="Aptos"/>
              </a:rPr>
              <a:t>Audio 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1993392"/>
            <a:ext cx="5943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28303D"/>
                </a:solidFill>
                <a:latin typeface="Aptos"/>
              </a:rPr>
              <a:t>Students can ask questions using a microphone or uploaded audio.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2633472"/>
            <a:ext cx="708660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709160" y="2788920"/>
            <a:ext cx="457200" cy="457200"/>
          </a:xfrm>
          <a:prstGeom prst="ellipse">
            <a:avLst/>
          </a:prstGeom>
          <a:solidFill>
            <a:srgbClr val="6C4ECB"/>
          </a:solidFill>
          <a:ln>
            <a:solidFill>
              <a:srgbClr val="6C4E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9452" y="2798064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Aptos"/>
              </a:rPr>
              <a:t>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743200"/>
            <a:ext cx="2240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6C4ECB"/>
                </a:solidFill>
                <a:latin typeface="Aptos"/>
              </a:rPr>
              <a:t>Multilingual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980944"/>
            <a:ext cx="5779146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 dirty="0">
                <a:solidFill>
                  <a:srgbClr val="28303D"/>
                </a:solidFill>
                <a:latin typeface="Aptos"/>
              </a:rPr>
              <a:t>The app can detect language, translate for retrieval, and answer back in </a:t>
            </a:r>
            <a:r>
              <a:rPr sz="1300" b="0" i="0" dirty="0" smtClean="0">
                <a:solidFill>
                  <a:srgbClr val="28303D"/>
                </a:solidFill>
                <a:latin typeface="Aptos"/>
              </a:rPr>
              <a:t>the</a:t>
            </a:r>
            <a:endParaRPr lang="en-US" sz="1300" b="0" i="0" dirty="0" smtClean="0">
              <a:solidFill>
                <a:srgbClr val="28303D"/>
              </a:solidFill>
              <a:latin typeface="Aptos"/>
            </a:endParaRPr>
          </a:p>
          <a:p>
            <a:pPr algn="l"/>
            <a:r>
              <a:rPr sz="1300" b="0" i="0" dirty="0" smtClean="0">
                <a:solidFill>
                  <a:srgbClr val="28303D"/>
                </a:solidFill>
                <a:latin typeface="Aptos"/>
              </a:rPr>
              <a:t> </a:t>
            </a:r>
            <a:r>
              <a:rPr sz="1300" b="0" i="0" dirty="0">
                <a:solidFill>
                  <a:srgbClr val="28303D"/>
                </a:solidFill>
                <a:latin typeface="Aptos"/>
              </a:rPr>
              <a:t>chosen language.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621024"/>
            <a:ext cx="708660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709160" y="3776472"/>
            <a:ext cx="457200" cy="457200"/>
          </a:xfrm>
          <a:prstGeom prst="ellipse">
            <a:avLst/>
          </a:prstGeom>
          <a:solidFill>
            <a:srgbClr val="17A8AA"/>
          </a:solidFill>
          <a:ln>
            <a:solidFill>
              <a:srgbClr val="17A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9452" y="3785615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Aptos"/>
              </a:rPr>
              <a:t>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730752"/>
            <a:ext cx="2240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17A8AA"/>
                </a:solidFill>
                <a:latin typeface="Aptos"/>
              </a:rPr>
              <a:t>Spoken answers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968496"/>
            <a:ext cx="5943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28303D"/>
                </a:solidFill>
                <a:latin typeface="Aptos"/>
              </a:rPr>
              <a:t>Responses can be converted to speech for a more natural user experience.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4608576"/>
            <a:ext cx="708660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709160" y="4764024"/>
            <a:ext cx="457200" cy="457200"/>
          </a:xfrm>
          <a:prstGeom prst="ellipse">
            <a:avLst/>
          </a:prstGeom>
          <a:solidFill>
            <a:srgbClr val="2365DB"/>
          </a:solidFill>
          <a:ln>
            <a:solidFill>
              <a:srgbClr val="236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59452" y="4773168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Aptos"/>
              </a:rPr>
              <a:t>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4718304"/>
            <a:ext cx="2240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2365DB"/>
                </a:solidFill>
                <a:latin typeface="Aptos"/>
              </a:rPr>
              <a:t>CampusSupportAgent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4956048"/>
            <a:ext cx="5943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28303D"/>
                </a:solidFill>
                <a:latin typeface="Aptos"/>
              </a:rPr>
              <a:t>The agent keeps context, detects intent, and selects the best retrieval path.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12265E"/>
                </a:solidFill>
                <a:latin typeface="Aptos"/>
              </a:rPr>
              <a:t>How the System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59536"/>
            <a:ext cx="1828800" cy="27432"/>
          </a:xfrm>
          <a:prstGeom prst="rect">
            <a:avLst/>
          </a:prstGeom>
          <a:solidFill>
            <a:srgbClr val="17A8AA"/>
          </a:solidFill>
          <a:ln>
            <a:solidFill>
              <a:srgbClr val="17A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1097280"/>
            <a:ext cx="2514600" cy="438912"/>
          </a:xfrm>
          <a:prstGeom prst="roundRect">
            <a:avLst/>
          </a:prstGeom>
          <a:solidFill>
            <a:srgbClr val="2365DB"/>
          </a:solidFill>
          <a:ln>
            <a:solidFill>
              <a:srgbClr val="236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1. User asks by text or voice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097280"/>
            <a:ext cx="2514600" cy="438912"/>
          </a:xfrm>
          <a:prstGeom prst="roundRect">
            <a:avLst/>
          </a:prstGeom>
          <a:solidFill>
            <a:srgbClr val="17A8AA"/>
          </a:solidFill>
          <a:ln>
            <a:solidFill>
              <a:srgbClr val="17A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2. App processes language and audio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12280" y="1097280"/>
            <a:ext cx="2514600" cy="438912"/>
          </a:xfrm>
          <a:prstGeom prst="roundRect">
            <a:avLst/>
          </a:prstGeom>
          <a:solidFill>
            <a:srgbClr val="6C4ECB"/>
          </a:solidFill>
          <a:ln>
            <a:solidFill>
              <a:srgbClr val="6C4E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3. Agent retrieves and returns answer</a:t>
            </a:r>
          </a:p>
        </p:txBody>
      </p:sp>
      <p:pic>
        <p:nvPicPr>
          <p:cNvPr id="7" name="Picture 6" descr="wide_clean_infographic_presentation_slide_on_a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737360"/>
            <a:ext cx="11384280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35508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626E84"/>
                </a:solidFill>
                <a:latin typeface="Aptos"/>
              </a:rPr>
              <a:t>Text and voice follow the same retrieval pipeline before the final response is formatted.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12265E"/>
                </a:solidFill>
                <a:latin typeface="Aptos"/>
              </a:rPr>
              <a:t>Architecture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59536"/>
            <a:ext cx="1920240" cy="27432"/>
          </a:xfrm>
          <a:prstGeom prst="rect">
            <a:avLst/>
          </a:prstGeom>
          <a:solidFill>
            <a:srgbClr val="17A8AA"/>
          </a:solidFill>
          <a:ln>
            <a:solidFill>
              <a:srgbClr val="17A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33756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388222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 dirty="0">
                <a:solidFill>
                  <a:srgbClr val="2365DB"/>
                </a:solidFill>
                <a:latin typeface="Aptos"/>
              </a:rP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982" y="1759236"/>
            <a:ext cx="33675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 dirty="0" err="1">
                <a:solidFill>
                  <a:srgbClr val="28303D"/>
                </a:solidFill>
                <a:latin typeface="Aptos"/>
              </a:rPr>
              <a:t>Gradio</a:t>
            </a:r>
            <a:r>
              <a:rPr sz="1300" b="0" i="0" dirty="0">
                <a:solidFill>
                  <a:srgbClr val="28303D"/>
                </a:solidFill>
                <a:latin typeface="Aptos"/>
              </a:rPr>
              <a:t> UI for </a:t>
            </a:r>
            <a:r>
              <a:rPr sz="1300" b="0" i="0" dirty="0" err="1">
                <a:solidFill>
                  <a:srgbClr val="28303D"/>
                </a:solidFill>
                <a:latin typeface="Aptos"/>
              </a:rPr>
              <a:t>chatbot</a:t>
            </a:r>
            <a:r>
              <a:rPr sz="1300" b="0" i="0" dirty="0">
                <a:solidFill>
                  <a:srgbClr val="28303D"/>
                </a:solidFill>
                <a:latin typeface="Aptos"/>
              </a:rPr>
              <a:t>, audio, language </a:t>
            </a:r>
            <a:endParaRPr lang="en-US" sz="1300" b="0" i="0" dirty="0" smtClean="0">
              <a:solidFill>
                <a:srgbClr val="28303D"/>
              </a:solidFill>
              <a:latin typeface="Aptos"/>
            </a:endParaRPr>
          </a:p>
          <a:p>
            <a:pPr algn="l"/>
            <a:r>
              <a:rPr sz="1300" b="0" i="0" dirty="0" smtClean="0">
                <a:solidFill>
                  <a:srgbClr val="28303D"/>
                </a:solidFill>
                <a:latin typeface="Aptos"/>
              </a:rPr>
              <a:t>selection</a:t>
            </a:r>
            <a:r>
              <a:rPr sz="1300" b="0" i="0" dirty="0">
                <a:solidFill>
                  <a:srgbClr val="28303D"/>
                </a:solidFill>
                <a:latin typeface="Aptos"/>
              </a:rPr>
              <a:t>, model choice, and Top-K control.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50592"/>
            <a:ext cx="333756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471444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 dirty="0">
                <a:solidFill>
                  <a:srgbClr val="17A8AA"/>
                </a:solidFill>
                <a:latin typeface="Aptos"/>
              </a:rPr>
              <a:t>Middleware (app.py)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1548" y="2864775"/>
            <a:ext cx="3187091" cy="6924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 dirty="0">
                <a:solidFill>
                  <a:srgbClr val="28303D"/>
                </a:solidFill>
                <a:latin typeface="Aptos"/>
              </a:rPr>
              <a:t>Handles input, speech-to-text, language </a:t>
            </a:r>
            <a:endParaRPr lang="en-US" sz="1300" b="0" i="0" dirty="0" smtClean="0">
              <a:solidFill>
                <a:srgbClr val="28303D"/>
              </a:solidFill>
              <a:latin typeface="Aptos"/>
            </a:endParaRPr>
          </a:p>
          <a:p>
            <a:pPr algn="l"/>
            <a:r>
              <a:rPr sz="1300" b="0" i="0" dirty="0" smtClean="0">
                <a:solidFill>
                  <a:srgbClr val="28303D"/>
                </a:solidFill>
                <a:latin typeface="Aptos"/>
              </a:rPr>
              <a:t>detection</a:t>
            </a:r>
            <a:r>
              <a:rPr sz="1300" b="0" i="0" dirty="0">
                <a:solidFill>
                  <a:srgbClr val="28303D"/>
                </a:solidFill>
                <a:latin typeface="Aptos"/>
              </a:rPr>
              <a:t>, translation, agent call, </a:t>
            </a:r>
            <a:endParaRPr lang="en-US" sz="1300" b="0" i="0" dirty="0" smtClean="0">
              <a:solidFill>
                <a:srgbClr val="28303D"/>
              </a:solidFill>
              <a:latin typeface="Aptos"/>
            </a:endParaRPr>
          </a:p>
          <a:p>
            <a:pPr algn="l"/>
            <a:r>
              <a:rPr sz="1300" b="0" i="0" dirty="0" smtClean="0">
                <a:solidFill>
                  <a:srgbClr val="28303D"/>
                </a:solidFill>
                <a:latin typeface="Aptos"/>
              </a:rPr>
              <a:t>text-to-speech</a:t>
            </a:r>
            <a:r>
              <a:rPr sz="1300" b="0" i="0" dirty="0">
                <a:solidFill>
                  <a:srgbClr val="28303D"/>
                </a:solidFill>
                <a:latin typeface="Aptos"/>
              </a:rPr>
              <a:t>, and response formatting.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49039"/>
            <a:ext cx="3667156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1548" y="3865989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 dirty="0">
                <a:solidFill>
                  <a:srgbClr val="6C4ECB"/>
                </a:solidFill>
                <a:latin typeface="Aptos"/>
              </a:rPr>
              <a:t>Backend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828" y="4194244"/>
            <a:ext cx="3926075" cy="6924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 dirty="0" err="1">
                <a:solidFill>
                  <a:srgbClr val="28303D"/>
                </a:solidFill>
                <a:latin typeface="Aptos"/>
              </a:rPr>
              <a:t>CampusSupportAgent</a:t>
            </a:r>
            <a:r>
              <a:rPr sz="1300" b="0" i="0" dirty="0">
                <a:solidFill>
                  <a:srgbClr val="28303D"/>
                </a:solidFill>
                <a:latin typeface="Aptos"/>
              </a:rPr>
              <a:t> works with intent detection, </a:t>
            </a:r>
            <a:endParaRPr lang="en-US" sz="1300" b="0" i="0" dirty="0" smtClean="0">
              <a:solidFill>
                <a:srgbClr val="28303D"/>
              </a:solidFill>
              <a:latin typeface="Aptos"/>
            </a:endParaRPr>
          </a:p>
          <a:p>
            <a:pPr algn="l"/>
            <a:r>
              <a:rPr sz="1300" b="0" i="0" dirty="0" smtClean="0">
                <a:solidFill>
                  <a:srgbClr val="28303D"/>
                </a:solidFill>
                <a:latin typeface="Aptos"/>
              </a:rPr>
              <a:t>short-term </a:t>
            </a:r>
            <a:r>
              <a:rPr sz="1300" b="0" i="0" dirty="0">
                <a:solidFill>
                  <a:srgbClr val="28303D"/>
                </a:solidFill>
                <a:latin typeface="Aptos"/>
              </a:rPr>
              <a:t>memory, fallback logic, retriever, </a:t>
            </a:r>
            <a:endParaRPr lang="en-US" sz="1300" b="0" i="0" dirty="0" smtClean="0">
              <a:solidFill>
                <a:srgbClr val="28303D"/>
              </a:solidFill>
              <a:latin typeface="Aptos"/>
            </a:endParaRPr>
          </a:p>
          <a:p>
            <a:pPr algn="l"/>
            <a:r>
              <a:rPr sz="1300" b="0" i="0" dirty="0" smtClean="0">
                <a:solidFill>
                  <a:srgbClr val="28303D"/>
                </a:solidFill>
                <a:latin typeface="Aptos"/>
              </a:rPr>
              <a:t>and </a:t>
            </a:r>
            <a:r>
              <a:rPr sz="1300" b="0" i="0" dirty="0">
                <a:solidFill>
                  <a:srgbClr val="28303D"/>
                </a:solidFill>
                <a:latin typeface="Aptos"/>
              </a:rPr>
              <a:t>model selector.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47488"/>
            <a:ext cx="375844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516178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 dirty="0">
                <a:solidFill>
                  <a:srgbClr val="269068"/>
                </a:solidFill>
                <a:latin typeface="Aptos"/>
              </a:rPr>
              <a:t>Data +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438769"/>
            <a:ext cx="3712876" cy="6924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 dirty="0">
                <a:solidFill>
                  <a:srgbClr val="28303D"/>
                </a:solidFill>
                <a:latin typeface="Aptos"/>
              </a:rPr>
              <a:t>Knowledge base JSON, </a:t>
            </a:r>
            <a:r>
              <a:rPr sz="1300" b="0" i="0" dirty="0" err="1">
                <a:solidFill>
                  <a:srgbClr val="28303D"/>
                </a:solidFill>
                <a:latin typeface="Aptos"/>
              </a:rPr>
              <a:t>GloVe</a:t>
            </a:r>
            <a:r>
              <a:rPr sz="1300" b="0" i="0" dirty="0">
                <a:solidFill>
                  <a:srgbClr val="28303D"/>
                </a:solidFill>
                <a:latin typeface="Aptos"/>
              </a:rPr>
              <a:t>/Word2Vec </a:t>
            </a:r>
            <a:endParaRPr lang="en-US" sz="1300" b="0" i="0" dirty="0" smtClean="0">
              <a:solidFill>
                <a:srgbClr val="28303D"/>
              </a:solidFill>
              <a:latin typeface="Aptos"/>
            </a:endParaRPr>
          </a:p>
          <a:p>
            <a:pPr algn="l"/>
            <a:r>
              <a:rPr sz="1300" b="0" i="0" dirty="0" err="1" smtClean="0">
                <a:solidFill>
                  <a:srgbClr val="28303D"/>
                </a:solidFill>
                <a:latin typeface="Aptos"/>
              </a:rPr>
              <a:t>embeddings</a:t>
            </a:r>
            <a:r>
              <a:rPr sz="1300" b="0" i="0" dirty="0">
                <a:solidFill>
                  <a:srgbClr val="28303D"/>
                </a:solidFill>
                <a:latin typeface="Aptos"/>
              </a:rPr>
              <a:t>, plus optional </a:t>
            </a:r>
            <a:r>
              <a:rPr sz="1300" b="0" i="0" dirty="0" err="1">
                <a:solidFill>
                  <a:srgbClr val="28303D"/>
                </a:solidFill>
                <a:latin typeface="Aptos"/>
              </a:rPr>
              <a:t>SpeechRecognition</a:t>
            </a:r>
            <a:r>
              <a:rPr sz="1300" b="0" i="0" dirty="0">
                <a:solidFill>
                  <a:srgbClr val="28303D"/>
                </a:solidFill>
                <a:latin typeface="Aptos"/>
              </a:rPr>
              <a:t>, </a:t>
            </a:r>
            <a:endParaRPr lang="en-US" sz="1300" b="0" i="0" dirty="0" smtClean="0">
              <a:solidFill>
                <a:srgbClr val="28303D"/>
              </a:solidFill>
              <a:latin typeface="Aptos"/>
            </a:endParaRPr>
          </a:p>
          <a:p>
            <a:pPr algn="l"/>
            <a:r>
              <a:rPr sz="1300" b="0" i="0" dirty="0" smtClean="0">
                <a:solidFill>
                  <a:srgbClr val="28303D"/>
                </a:solidFill>
                <a:latin typeface="Aptos"/>
              </a:rPr>
              <a:t>translation</a:t>
            </a:r>
            <a:r>
              <a:rPr sz="1300" b="0" i="0" dirty="0">
                <a:solidFill>
                  <a:srgbClr val="28303D"/>
                </a:solidFill>
                <a:latin typeface="Aptos"/>
              </a:rPr>
              <a:t>, and </a:t>
            </a:r>
            <a:r>
              <a:rPr sz="1300" b="0" i="0" dirty="0" err="1">
                <a:solidFill>
                  <a:srgbClr val="28303D"/>
                </a:solidFill>
                <a:latin typeface="Aptos"/>
              </a:rPr>
              <a:t>gTTS</a:t>
            </a:r>
            <a:r>
              <a:rPr sz="1300" b="0" i="0" dirty="0">
                <a:solidFill>
                  <a:srgbClr val="28303D"/>
                </a:solidFill>
                <a:latin typeface="Aptos"/>
              </a:rPr>
              <a:t>.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447" y="1041821"/>
            <a:ext cx="7571573" cy="4348567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875520" y="6126480"/>
            <a:ext cx="1645920" cy="347472"/>
          </a:xfrm>
          <a:prstGeom prst="roundRect">
            <a:avLst/>
          </a:prstGeom>
          <a:solidFill>
            <a:srgbClr val="12265E"/>
          </a:solidFill>
          <a:ln>
            <a:solidFill>
              <a:srgbClr val="122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Mockup-ready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283</Words>
  <Application>Microsoft Office PowerPoint</Application>
  <PresentationFormat>Custom</PresentationFormat>
  <Paragraphs>59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Patel Kevin</cp:lastModifiedBy>
  <cp:revision>6</cp:revision>
  <dcterms:created xsi:type="dcterms:W3CDTF">2013-01-27T09:14:16Z</dcterms:created>
  <dcterms:modified xsi:type="dcterms:W3CDTF">2026-04-23T17:15:49Z</dcterms:modified>
  <cp:category/>
</cp:coreProperties>
</file>